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Inter" panose="020B0604020202020204" charset="0"/>
      <p:regular r:id="rId4"/>
      <p:bold r:id="rId5"/>
      <p:italic r:id="rId6"/>
      <p:boldItalic r:id="rId7"/>
    </p:embeddedFont>
    <p:embeddedFont>
      <p:font typeface="Open Sans" panose="020B0606030504020204" pitchFamily="3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+9yr4mDS8zg5+kfXTqvtBuST6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468" y="-522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customschemas.google.com/relationships/presentationmetadata" Target="meta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084396" y="13184457"/>
            <a:ext cx="20464104" cy="13034120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80" y="30011217"/>
            <a:ext cx="13848538" cy="8253126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403306" y="30138544"/>
            <a:ext cx="12527228" cy="8125799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674" cy="433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62" b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/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2735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7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/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91692" y="4118685"/>
            <a:ext cx="28813765" cy="177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01005"/>
              </a:lnSpc>
            </a:pPr>
            <a:r>
              <a:rPr lang="en-US" sz="11434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PROJETO </a:t>
            </a:r>
            <a:r>
              <a:rPr lang="pt-BR" sz="11434" b="1" dirty="0">
                <a:latin typeface="Open Sans"/>
                <a:ea typeface="Open Sans"/>
                <a:cs typeface="Open Sans"/>
              </a:rPr>
              <a:t>NEURALVISION</a:t>
            </a:r>
            <a:endParaRPr sz="11434" b="1" dirty="0">
              <a:latin typeface="Open Sans"/>
              <a:ea typeface="Open Sans"/>
              <a:cs typeface="Open Sans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1880425" y="6307072"/>
            <a:ext cx="25837923" cy="2051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762" b="1" dirty="0">
                <a:latin typeface="Open Sans"/>
                <a:ea typeface="Open Sans"/>
                <a:cs typeface="Open Sans"/>
                <a:sym typeface="Open Sans"/>
              </a:rPr>
              <a:t>Flavia da Costa, Guilherme Muniz, Lucas Moreira e Maria Eduarda Cabral.</a:t>
            </a:r>
            <a:endParaRPr dirty="0"/>
          </a:p>
          <a:p>
            <a:pPr lvl="0" algn="ctr">
              <a:lnSpc>
                <a:spcPct val="140025"/>
              </a:lnSpc>
            </a:pPr>
            <a:r>
              <a:rPr lang="en-US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4762" dirty="0">
                <a:latin typeface="Open Sans"/>
                <a:ea typeface="Open Sans"/>
                <a:cs typeface="Open Sans"/>
                <a:sym typeface="Open Sans"/>
              </a:rPr>
              <a:t>Rafael Rossetti, Victor Rosetti, </a:t>
            </a:r>
            <a:r>
              <a:rPr lang="en-US" sz="47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Rodnil Lisbôa, Rodrigo Rosa, Marcos Minoru</a:t>
            </a:r>
            <a:endParaRPr dirty="0"/>
          </a:p>
        </p:txBody>
      </p:sp>
      <p:sp>
        <p:nvSpPr>
          <p:cNvPr id="129" name="Google Shape;129;p1"/>
          <p:cNvSpPr txBox="1"/>
          <p:nvPr/>
        </p:nvSpPr>
        <p:spPr>
          <a:xfrm>
            <a:off x="15440042" y="24264386"/>
            <a:ext cx="12433206" cy="533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</a:t>
            </a:r>
            <a:r>
              <a:rPr lang="en-US" sz="34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Autoria</a:t>
            </a:r>
            <a:r>
              <a:rPr lang="en-US" sz="34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Própria</a:t>
            </a:r>
            <a:r>
              <a:rPr lang="en-US" sz="34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(2026)</a:t>
            </a:r>
            <a:endParaRPr dirty="0"/>
          </a:p>
        </p:txBody>
      </p:sp>
      <p:sp>
        <p:nvSpPr>
          <p:cNvPr id="130" name="Google Shape;130;p1"/>
          <p:cNvSpPr txBox="1"/>
          <p:nvPr/>
        </p:nvSpPr>
        <p:spPr>
          <a:xfrm>
            <a:off x="2833434" y="3050678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dirty="0"/>
          </a:p>
        </p:txBody>
      </p:sp>
      <p:sp>
        <p:nvSpPr>
          <p:cNvPr id="131" name="Google Shape;131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/>
          </a:p>
        </p:txBody>
      </p:sp>
      <p:sp>
        <p:nvSpPr>
          <p:cNvPr id="133" name="Google Shape;133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/>
          </a:p>
        </p:txBody>
      </p:sp>
      <p:sp>
        <p:nvSpPr>
          <p:cNvPr id="134" name="Google Shape;134;p1"/>
          <p:cNvSpPr txBox="1"/>
          <p:nvPr/>
        </p:nvSpPr>
        <p:spPr>
          <a:xfrm>
            <a:off x="15814397" y="31928200"/>
            <a:ext cx="11400000" cy="5416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pt-BR" sz="3200" b="1" dirty="0"/>
              <a:t>LIDERANÇAS EMPÁTICAS.</a:t>
            </a:r>
            <a:r>
              <a:rPr lang="pt-BR" sz="3200" dirty="0"/>
              <a:t> Iniciativa Social e Educação Empreendedora. Acesso em: 04 mai. 2026.</a:t>
            </a:r>
          </a:p>
          <a:p>
            <a:endParaRPr lang="pt-BR" sz="3200" dirty="0"/>
          </a:p>
          <a:p>
            <a:r>
              <a:rPr lang="pt-BR" sz="3200" b="1" dirty="0"/>
              <a:t>OPENCV.</a:t>
            </a:r>
            <a:r>
              <a:rPr lang="pt-BR" sz="3200" dirty="0"/>
              <a:t> Open </a:t>
            </a:r>
            <a:r>
              <a:rPr lang="pt-BR" sz="3200" dirty="0" err="1"/>
              <a:t>Source</a:t>
            </a:r>
            <a:r>
              <a:rPr lang="pt-BR" sz="3200" dirty="0"/>
              <a:t> Computer Vision Library. Online </a:t>
            </a:r>
            <a:r>
              <a:rPr lang="pt-BR" sz="3200" dirty="0" err="1"/>
              <a:t>Documentation</a:t>
            </a:r>
            <a:r>
              <a:rPr lang="pt-BR" sz="3200" dirty="0"/>
              <a:t>. </a:t>
            </a:r>
          </a:p>
          <a:p>
            <a:endParaRPr lang="pt-BR" sz="3200" b="1" dirty="0"/>
          </a:p>
          <a:p>
            <a:r>
              <a:rPr lang="pt-BR" sz="3200" b="1" dirty="0"/>
              <a:t>POSTGRESQL.</a:t>
            </a:r>
            <a:r>
              <a:rPr lang="pt-BR" sz="3200" dirty="0"/>
              <a:t> PostgreSQL 16.0 </a:t>
            </a:r>
            <a:r>
              <a:rPr lang="pt-BR" sz="3200" dirty="0" err="1"/>
              <a:t>Documentation</a:t>
            </a:r>
            <a:r>
              <a:rPr lang="pt-BR" sz="3200" dirty="0"/>
              <a:t>. The PostgreSQL Global </a:t>
            </a:r>
            <a:r>
              <a:rPr lang="pt-BR" sz="3200" dirty="0" err="1"/>
              <a:t>Development</a:t>
            </a:r>
            <a:r>
              <a:rPr lang="pt-BR" sz="3200" dirty="0"/>
              <a:t> </a:t>
            </a:r>
            <a:r>
              <a:rPr lang="pt-BR" sz="3200" dirty="0" err="1"/>
              <a:t>Group</a:t>
            </a:r>
            <a:r>
              <a:rPr lang="pt-BR" sz="3200" dirty="0"/>
              <a:t>, 2023.</a:t>
            </a:r>
          </a:p>
          <a:p>
            <a:endParaRPr lang="pt-BR" sz="3200" dirty="0"/>
          </a:p>
          <a:p>
            <a:r>
              <a:rPr lang="pt-BR" sz="3200" b="1" dirty="0"/>
              <a:t>ULTRALYTICS.</a:t>
            </a:r>
            <a:r>
              <a:rPr lang="pt-BR" sz="3200" dirty="0"/>
              <a:t> YOLOv8 </a:t>
            </a:r>
            <a:r>
              <a:rPr lang="pt-BR" sz="3200" dirty="0" err="1"/>
              <a:t>Docs</a:t>
            </a:r>
            <a:r>
              <a:rPr lang="pt-BR" sz="3200" dirty="0"/>
              <a:t>: Real-time </a:t>
            </a:r>
            <a:r>
              <a:rPr lang="pt-BR" sz="3200" dirty="0" err="1"/>
              <a:t>Object</a:t>
            </a:r>
            <a:r>
              <a:rPr lang="pt-BR" sz="3200" dirty="0"/>
              <a:t> </a:t>
            </a:r>
            <a:r>
              <a:rPr lang="pt-BR" sz="3200" dirty="0" err="1"/>
              <a:t>Detection</a:t>
            </a:r>
            <a:r>
              <a:rPr lang="pt-BR" sz="3200" dirty="0"/>
              <a:t>. 2024</a:t>
            </a:r>
          </a:p>
        </p:txBody>
      </p:sp>
      <p:sp>
        <p:nvSpPr>
          <p:cNvPr id="135" name="Google Shape;135;p1"/>
          <p:cNvSpPr txBox="1"/>
          <p:nvPr/>
        </p:nvSpPr>
        <p:spPr>
          <a:xfrm>
            <a:off x="1222673" y="31219014"/>
            <a:ext cx="13222722" cy="7238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pt-BR" sz="3200" dirty="0"/>
              <a:t>Para a detecção e classificação em tempo real dos alimentos, utilizamos </a:t>
            </a:r>
            <a:r>
              <a:rPr lang="pt-BR" sz="3200" b="1" dirty="0"/>
              <a:t>Python</a:t>
            </a:r>
            <a:r>
              <a:rPr lang="pt-BR" sz="3200" dirty="0"/>
              <a:t> e o modelo </a:t>
            </a:r>
            <a:r>
              <a:rPr lang="pt-BR" sz="3200" b="1" dirty="0"/>
              <a:t>YOLO</a:t>
            </a:r>
            <a:r>
              <a:rPr lang="pt-BR" sz="3200" dirty="0"/>
              <a:t>.</a:t>
            </a:r>
            <a:endParaRPr lang="pt-BR" sz="32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pt-BR" sz="3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Python</a:t>
            </a:r>
            <a:endParaRPr lang="pt-BR" sz="1200" dirty="0"/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Yolo</a:t>
            </a:r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200" dirty="0">
                <a:latin typeface="Open Sans"/>
                <a:ea typeface="Open Sans"/>
                <a:cs typeface="Open Sans"/>
                <a:sym typeface="Open Sans"/>
              </a:rPr>
              <a:t>OpenCV</a:t>
            </a:r>
            <a:endParaRPr sz="1200" dirty="0"/>
          </a:p>
          <a:p>
            <a:pPr marL="740593" lvl="1" indent="-370297" algn="just">
              <a:lnSpc>
                <a:spcPct val="140000"/>
              </a:lnSpc>
              <a:buSzPts val="3430"/>
              <a:buFont typeface="Arial"/>
              <a:buChar char="•"/>
            </a:pPr>
            <a:r>
              <a:rPr lang="en-US" sz="3200" dirty="0">
                <a:latin typeface="Open Sans"/>
                <a:ea typeface="Open Sans"/>
                <a:cs typeface="Open Sans"/>
                <a:sym typeface="Open Sans"/>
              </a:rPr>
              <a:t>PostgreSQL</a:t>
            </a:r>
            <a:endParaRPr sz="1200" dirty="0"/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200" dirty="0" err="1">
                <a:latin typeface="Open Sans"/>
                <a:ea typeface="Open Sans"/>
                <a:cs typeface="Open Sans"/>
                <a:sym typeface="Open Sans"/>
              </a:rPr>
              <a:t>FastAPI</a:t>
            </a:r>
            <a:endParaRPr lang="en-US" sz="3200" dirty="0">
              <a:latin typeface="Open Sans"/>
              <a:ea typeface="Open Sans"/>
              <a:cs typeface="Open Sans"/>
              <a:sym typeface="Open Sans"/>
            </a:endParaRPr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endParaRPr sz="1600" dirty="0"/>
          </a:p>
          <a:p>
            <a:pPr lvl="0" algn="just">
              <a:lnSpc>
                <a:spcPct val="140000"/>
              </a:lnSpc>
            </a:pPr>
            <a:r>
              <a:rPr lang="pt-BR" sz="3200" dirty="0"/>
              <a:t>A integração entre o scanner local e a nuvem é realizada via </a:t>
            </a:r>
            <a:r>
              <a:rPr lang="pt-BR" sz="3200" b="1" dirty="0" err="1"/>
              <a:t>FastAPI</a:t>
            </a:r>
            <a:r>
              <a:rPr lang="pt-BR" sz="3200" dirty="0"/>
              <a:t>, que armazena os dados em um banco </a:t>
            </a:r>
            <a:r>
              <a:rPr lang="pt-BR" sz="3200" b="1" dirty="0"/>
              <a:t>PostgreSQL</a:t>
            </a:r>
            <a:r>
              <a:rPr lang="pt-BR" sz="3200" dirty="0"/>
              <a:t> para alimentar o dashboard</a:t>
            </a:r>
            <a:endParaRPr dirty="0"/>
          </a:p>
        </p:txBody>
      </p:sp>
      <p:sp>
        <p:nvSpPr>
          <p:cNvPr id="136" name="Google Shape;136;p1"/>
          <p:cNvSpPr txBox="1"/>
          <p:nvPr/>
        </p:nvSpPr>
        <p:spPr>
          <a:xfrm>
            <a:off x="1595870" y="10749184"/>
            <a:ext cx="12562800" cy="5429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pt-BR" sz="3600" dirty="0"/>
              <a:t>A iniciativa Lideranças Empáticas enfrenta um gargalo operacional crítico: a contagem manual de grandes volumes de alimentos arrecadados. Este processo é suscetível a erros humanos, morosidade e dificuldade em segmentar os dados por equipe e categoria de alimento em tempo real. A falta de um registro automatizado impede uma gestão ágil e a visualização imediata do impacto gerado pelas equipes.</a:t>
            </a:r>
            <a:endParaRPr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70066" y="21125709"/>
            <a:ext cx="12562800" cy="77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pt-BR" sz="3600" dirty="0"/>
              <a:t>O </a:t>
            </a:r>
            <a:r>
              <a:rPr lang="pt-BR" sz="3600" b="1" dirty="0"/>
              <a:t>NeuralVision</a:t>
            </a:r>
            <a:r>
              <a:rPr lang="pt-BR" sz="3600" dirty="0"/>
              <a:t> propõe uma solução integrada de Visão Computacional e IA. O sistema utiliza uma câmera posicionada sobre um ambiente controlado (rampa com fundo escuro e iluminação fixa) para escanear pacotes de alimentos. A IA local identifica o tipo de item (Arroz, Feijão, etc.) e estima o peso. Os dados são enviados via API para um banco de dados em nuvem, que alimenta um dashboard interativo. Isso permite que administradores e grupos monitorem a contagem total, o ranking de arrecadação e as evidências fotográficas de cada item registrado.</a:t>
            </a:r>
            <a:endParaRPr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b="1" dirty="0">
                <a:latin typeface="Open Sans"/>
                <a:ea typeface="Open Sans"/>
                <a:cs typeface="Open Sans"/>
                <a:sym typeface="Open Sans"/>
              </a:rPr>
              <a:t>IV </a:t>
            </a:r>
            <a:r>
              <a:rPr lang="en-US" sz="4955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FECAP DE TECNOLOGIA - 2026</a:t>
            </a:r>
            <a:endParaRPr dirty="0"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</a:t>
            </a:r>
            <a:r>
              <a:rPr lang="en-US" sz="4955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Escola de Comércio Álvares Penteado - FECAP</a:t>
            </a:r>
            <a:endParaRPr dirty="0"/>
          </a:p>
        </p:txBody>
      </p:sp>
      <p:sp>
        <p:nvSpPr>
          <p:cNvPr id="139" name="Google Shape;139;p1"/>
          <p:cNvSpPr txBox="1"/>
          <p:nvPr/>
        </p:nvSpPr>
        <p:spPr>
          <a:xfrm>
            <a:off x="15617815" y="10848289"/>
            <a:ext cx="11904157" cy="5429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pt-BR" sz="3600" dirty="0"/>
              <a:t>O </a:t>
            </a:r>
            <a:r>
              <a:rPr lang="pt-BR" sz="3600" b="1" dirty="0"/>
              <a:t>NeuralVision</a:t>
            </a:r>
            <a:r>
              <a:rPr lang="pt-BR" sz="3600" dirty="0"/>
              <a:t> automatizou a contagem de donativos, eliminando erros manuais e reduzindo drasticamente o tempo de processamento. Através do dashboard, os administradores podem obter total transparência sobre a arrecadação por equipe e categoria, utilizando as evidências geradas pela IA para validar os dados com precisão.</a:t>
            </a:r>
            <a:endParaRPr dirty="0"/>
          </a:p>
        </p:txBody>
      </p:sp>
      <p:sp>
        <p:nvSpPr>
          <p:cNvPr id="140" name="Google Shape;140;p1"/>
          <p:cNvSpPr txBox="1"/>
          <p:nvPr/>
        </p:nvSpPr>
        <p:spPr>
          <a:xfrm>
            <a:off x="15617815" y="25320008"/>
            <a:ext cx="11652014" cy="232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pt-BR" sz="3600" dirty="0"/>
              <a:t>O sistema comprovou ser uma solução escalável para a gestão eficiente de grandes volumes de alimentos no projeto Lideranças Empáticas.</a:t>
            </a: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719E3BE-6D25-7C56-AA67-04B312E9AB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1976" y="33413818"/>
            <a:ext cx="1900565" cy="190056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08A27AF-51BD-287A-D5A7-2A5363E629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17815" y="16487317"/>
            <a:ext cx="11855850" cy="7376224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1073EEE-417B-8AB5-0973-8CEE718C449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68589" y="32714409"/>
            <a:ext cx="1562100" cy="206692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F0BA70E-A6CB-DF6D-887D-70F16FBC873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0129" y="35110489"/>
            <a:ext cx="3140507" cy="1137633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855627C2-58D4-B958-0DB4-F0CE51FFCF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8310" y="32344609"/>
            <a:ext cx="1600896" cy="16518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</Words>
  <Application>Microsoft Office PowerPoint</Application>
  <PresentationFormat>Personalizar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Inter</vt:lpstr>
      <vt:lpstr>Open Sans</vt:lpstr>
      <vt:lpstr>Arial</vt:lpstr>
      <vt:lpstr>Calibri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Flavia Costa</dc:creator>
  <cp:lastModifiedBy>Flavia Costa</cp:lastModifiedBy>
  <cp:revision>1</cp:revision>
  <dcterms:created xsi:type="dcterms:W3CDTF">2006-08-16T00:00:00Z</dcterms:created>
  <dcterms:modified xsi:type="dcterms:W3CDTF">2026-05-04T20:35:09Z</dcterms:modified>
</cp:coreProperties>
</file>